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6903720" y="868680"/>
            <a:ext cx="4709160" cy="2999232"/>
          </a:xfrm>
          <a:prstGeom prst="rect">
            <a:avLst/>
          </a:prstGeom>
          <a:solidFill>
            <a:srgbClr val="16304A"/>
          </a:solidFill>
          <a:ln/>
        </p:spPr>
      </p:sp>
      <p:pic>
        <p:nvPicPr>
          <p:cNvPr id="4" name="Image 0" descr="Dashboard de BiblioTe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914400"/>
            <a:ext cx="4617720" cy="2889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8686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6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TECNOLÓGICA DEL PERÚ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12801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BiblioTech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868680" y="210312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UTP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868680" y="285292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Biblioteca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4160520"/>
            <a:ext cx="10744200" cy="18288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3708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PROYECTO FINAL — AVANCE 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470001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Control de Versiones para el Desarrollo de una Solución de Software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5230368"/>
            <a:ext cx="1993392" cy="457200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13" name="Shape 10"/>
          <p:cNvSpPr/>
          <p:nvPr/>
        </p:nvSpPr>
        <p:spPr>
          <a:xfrm>
            <a:off x="868680" y="5230368"/>
            <a:ext cx="50292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1"/>
          <p:cNvSpPr/>
          <p:nvPr/>
        </p:nvSpPr>
        <p:spPr>
          <a:xfrm>
            <a:off x="1014984" y="5230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yeffdx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044952" y="5230368"/>
            <a:ext cx="1993392" cy="457200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16" name="Shape 13"/>
          <p:cNvSpPr/>
          <p:nvPr/>
        </p:nvSpPr>
        <p:spPr>
          <a:xfrm>
            <a:off x="3044952" y="5230368"/>
            <a:ext cx="50292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3191256" y="5230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ChrisA9683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21224" y="5230368"/>
            <a:ext cx="1993392" cy="457200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19" name="Shape 16"/>
          <p:cNvSpPr/>
          <p:nvPr/>
        </p:nvSpPr>
        <p:spPr>
          <a:xfrm>
            <a:off x="5221224" y="5230368"/>
            <a:ext cx="50292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>
          <a:xfrm>
            <a:off x="5367528" y="5230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aandrexx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397496" y="5230368"/>
            <a:ext cx="1993392" cy="457200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22" name="Shape 19"/>
          <p:cNvSpPr/>
          <p:nvPr/>
        </p:nvSpPr>
        <p:spPr>
          <a:xfrm>
            <a:off x="7397496" y="5230368"/>
            <a:ext cx="50292" cy="4572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3" name="Text 20"/>
          <p:cNvSpPr/>
          <p:nvPr/>
        </p:nvSpPr>
        <p:spPr>
          <a:xfrm>
            <a:off x="7543800" y="5230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nocompe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573768" y="5230368"/>
            <a:ext cx="1993392" cy="457200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25" name="Shape 22"/>
          <p:cNvSpPr/>
          <p:nvPr/>
        </p:nvSpPr>
        <p:spPr>
          <a:xfrm>
            <a:off x="9573768" y="5230368"/>
            <a:ext cx="50292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3"/>
          <p:cNvSpPr/>
          <p:nvPr/>
        </p:nvSpPr>
        <p:spPr>
          <a:xfrm>
            <a:off x="9720072" y="5230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balvinsebas64-prog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68680" y="58704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Herramientas de Desarrollo   ·   Lima, Perú — Septiembre de 2026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68680" y="618134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github.com/nocompe/Herramienta-de-desarrollo-biblioteca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1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Contenido de la presentación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443630" cy="2029968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54480"/>
            <a:ext cx="3443630" cy="685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9222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24323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81635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trabajaba antes y qué se perdió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58030" y="1554480"/>
            <a:ext cx="3443630" cy="2029968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8030" y="1554480"/>
            <a:ext cx="3443630" cy="685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632350" y="179222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32350" y="24323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32350" y="281635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colaborativo con Git y GitHub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75981" y="1554480"/>
            <a:ext cx="3443630" cy="2029968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17" name="Shape 15"/>
          <p:cNvSpPr/>
          <p:nvPr/>
        </p:nvSpPr>
        <p:spPr>
          <a:xfrm>
            <a:off x="8075981" y="1554480"/>
            <a:ext cx="3443630" cy="6858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8" name="Text 16"/>
          <p:cNvSpPr/>
          <p:nvPr/>
        </p:nvSpPr>
        <p:spPr>
          <a:xfrm>
            <a:off x="8350301" y="179222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9E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350301" y="24323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sistema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50301" y="281635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BiblioTech: módulos, arquitectura y demo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858768"/>
            <a:ext cx="3443630" cy="2029968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858768"/>
            <a:ext cx="3443630" cy="685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0965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14400" y="47365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en la práctica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51206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Ramas, commits, fusiones y un conflicto real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58030" y="3858768"/>
            <a:ext cx="3443630" cy="2029968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27" name="Shape 25"/>
          <p:cNvSpPr/>
          <p:nvPr/>
        </p:nvSpPr>
        <p:spPr>
          <a:xfrm>
            <a:off x="4358030" y="3858768"/>
            <a:ext cx="3443630" cy="685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4632350" y="40965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4632350" y="47365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32350" y="51206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v1.0.0, hotfix y v1.0.1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75981" y="3858768"/>
            <a:ext cx="3443630" cy="2029968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32" name="Shape 30"/>
          <p:cNvSpPr/>
          <p:nvPr/>
        </p:nvSpPr>
        <p:spPr>
          <a:xfrm>
            <a:off x="8075981" y="3858768"/>
            <a:ext cx="3443630" cy="68580"/>
          </a:xfrm>
          <a:prstGeom prst="rect">
            <a:avLst/>
          </a:prstGeom>
          <a:solidFill>
            <a:srgbClr val="0EA5B7"/>
          </a:solidFill>
          <a:ln/>
        </p:spPr>
      </p:sp>
      <p:sp>
        <p:nvSpPr>
          <p:cNvPr id="33" name="Text 31"/>
          <p:cNvSpPr/>
          <p:nvPr/>
        </p:nvSpPr>
        <p:spPr>
          <a:xfrm>
            <a:off x="8350301" y="40965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A5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8350301" y="47365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50301" y="51206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Números, lecciones aprendidas y mejoras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BiblioTech UTP  ·  Herramientas de Desarrollo  ·  Avance 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1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Así se trabajaba: sin control de versiones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389888"/>
            <a:ext cx="3063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389888"/>
            <a:ext cx="68580" cy="9144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4996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semanas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41248" y="18653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avance perdidas al sobrescribir un módulo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578608"/>
            <a:ext cx="3063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78608"/>
            <a:ext cx="68580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6883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carpetas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1248" y="30540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«final», «v2_ok» y «ULTIMO» a la vez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767328"/>
            <a:ext cx="3063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767328"/>
            <a:ext cx="68580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8770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horas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" y="42428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consolidación manual de archivos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956048"/>
            <a:ext cx="3063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956048"/>
            <a:ext cx="68580" cy="9144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50657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forma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1248" y="54315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saber quién cambió qué, ni cuándo</a:t>
            </a:r>
            <a:endParaRPr lang="en-US" sz="1050" dirty="0"/>
          </a:p>
        </p:txBody>
      </p:sp>
      <p:pic>
        <p:nvPicPr>
          <p:cNvPr id="22" name="Image 0" descr="as-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417320"/>
            <a:ext cx="7543800" cy="440128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BiblioTech UTP  ·  Herramientas de Desarrollo  ·  Avance 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1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propuesta: un repositorio como fuente de verdad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389888"/>
            <a:ext cx="3063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389888"/>
            <a:ext cx="68580" cy="9144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50876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Historial completo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1801368"/>
            <a:ext cx="2660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Quién, qué y cuándo, en cada línea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578608"/>
            <a:ext cx="3063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78608"/>
            <a:ext cx="68580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69748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Trabajo en paralelo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2990088"/>
            <a:ext cx="2660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módulos a la vez, sin pisarse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767328"/>
            <a:ext cx="3063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767328"/>
            <a:ext cx="6858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88620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Vuelta atrás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" y="4178808"/>
            <a:ext cx="2660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versión anterior, en un comando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956048"/>
            <a:ext cx="3063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956048"/>
            <a:ext cx="68580" cy="9144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507492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Releases marcados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1248" y="5367528"/>
            <a:ext cx="2660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identificadas con etiquetas</a:t>
            </a:r>
            <a:endParaRPr lang="en-US" sz="1050" dirty="0"/>
          </a:p>
        </p:txBody>
      </p:sp>
      <p:pic>
        <p:nvPicPr>
          <p:cNvPr id="22" name="Image 0" descr="to-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481328"/>
            <a:ext cx="7543800" cy="425482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BiblioTech UTP  ·  Herramientas de Desarrollo  ·  Avance 1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1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EL SISTEMA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BiblioTech: cuatro módulos, un integrante cada uno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389888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389888"/>
            <a:ext cx="68580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508760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Catálogo de Libros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1248" y="1801368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búsqueda por título, autor o ISBN, y control de ejemplares disponibles.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596896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96896"/>
            <a:ext cx="68580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715768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 Socios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41248" y="3008376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 socios con DNI y correo únicos; suspensión y reactivación.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803904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803904"/>
            <a:ext cx="6858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922776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Préstamos y Devoluciones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1248" y="4215384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reglas de negocio y cálculo automático de días de retraso.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010912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5010912"/>
            <a:ext cx="68580" cy="9144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5129784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Reportes y Dashboard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1248" y="5422392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Indicadores, ranking de libros más prestados y préstamos vencidos.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6772" y="1348740"/>
            <a:ext cx="5385816" cy="3396996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D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pic>
        <p:nvPicPr>
          <p:cNvPr id="23" name="Image 0" descr="Catálogo de libr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389888"/>
            <a:ext cx="5303520" cy="331470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217920" y="5015484"/>
            <a:ext cx="5303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17920" y="5015484"/>
            <a:ext cx="68580" cy="8961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Text 23"/>
          <p:cNvSpPr/>
          <p:nvPr/>
        </p:nvSpPr>
        <p:spPr>
          <a:xfrm>
            <a:off x="6419088" y="5134356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 endpoints REST · 3 tablas · 4 seeders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419088" y="5426964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responde siempre en JSON. Cada módulo tiene su propio controlador, su modelo y sus datos de prueba.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BiblioTech UTP  ·  Herramientas de Desarrollo  ·  Avance 1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1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EL SISTEMA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y tecnologías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pic>
        <p:nvPicPr>
          <p:cNvPr id="6" name="Image 0" descr="arquite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481328"/>
            <a:ext cx="9326880" cy="44905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BiblioTech UTP  ·  Herramientas de Desarrollo  ·  Avance 1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1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EL SISTEMA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sistema funcionando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Inicio de sesión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0372" y="1531620"/>
            <a:ext cx="5202936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D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pic>
        <p:nvPicPr>
          <p:cNvPr id="8" name="Image 0" descr="Inicio de ses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72768"/>
            <a:ext cx="5120640" cy="19933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09360" y="1280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2 · Socios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8212" y="1531620"/>
            <a:ext cx="5202936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D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pic>
        <p:nvPicPr>
          <p:cNvPr id="11" name="Image 1" descr="Módulo 2 · Soci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72768"/>
            <a:ext cx="5120640" cy="19933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" y="37307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3 · Préstamos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90372" y="3982212"/>
            <a:ext cx="5202936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D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pic>
        <p:nvPicPr>
          <p:cNvPr id="14" name="Image 2" descr="Módulo 3 · Préstam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23360"/>
            <a:ext cx="5120640" cy="19933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9360" y="37307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4 · Dashboard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68212" y="3982212"/>
            <a:ext cx="5202936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3CCD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pic>
        <p:nvPicPr>
          <p:cNvPr id="17" name="Image 3" descr="Módulo 4 · Dashboa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023360"/>
            <a:ext cx="5120640" cy="19933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BiblioTech UTP  ·  Herramientas de Desarrollo  ·  Avance 1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1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GIT EN LA PRÁCTICA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Reparto del trabajo y ramas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89888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286000"/>
                <a:gridCol w="3291840"/>
                <a:gridCol w="14630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Barrueta Quispe, Yeferson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yeffdx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 de Libros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Antonio Loayza, Cristian Yharen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ChrisA9683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Socios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Huillca Loco, Andre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aandrexx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Préstamos y Devoluciones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Gonzales del Valle Vargas, Marco Antonio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nocompe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Reportes, docs y releases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[Apellidos y nombres]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balvinsebas64-prog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Mejoras de UI/UX y 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407408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4407408"/>
            <a:ext cx="68580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4526280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persona, dos identidades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41248" y="4818888"/>
            <a:ext cx="4901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ChrisA9683 y «Christian Antonio» comparten el mismo correo: es el mismo integrante con dos user.name distintos. Git los cuenta como dos autores.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4407408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4407408"/>
            <a:ext cx="68580" cy="118872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3" name="Text 10"/>
          <p:cNvSpPr/>
          <p:nvPr/>
        </p:nvSpPr>
        <p:spPr>
          <a:xfrm>
            <a:off x="6419088" y="4526280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Zonas de trabajo por módulo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19088" y="4818888"/>
            <a:ext cx="4901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archivos que todos tocan (api.php, App.jsx, DatabaseSeeder.php) se dividieron en zonas comentadas. Cada quien escribe solo en la suya.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BiblioTech UTP  ·  Herramientas de Desarrollo  ·  Avance 1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1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GIT EN LA PRÁCTICA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Estrategia de ramas: Git Flow simplificado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51660" y="1353312"/>
            <a:ext cx="190881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51660" y="1353312"/>
            <a:ext cx="50292" cy="5303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1997964" y="13898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997964" y="16276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releases etiquetados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34790" y="1353312"/>
            <a:ext cx="190881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34790" y="1353312"/>
            <a:ext cx="50292" cy="530352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2" name="Text 10"/>
          <p:cNvSpPr/>
          <p:nvPr/>
        </p:nvSpPr>
        <p:spPr>
          <a:xfrm>
            <a:off x="4181094" y="13898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81094" y="16276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del equipo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353312"/>
            <a:ext cx="190881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353312"/>
            <a:ext cx="50292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64224" y="13898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feature/*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64224" y="16276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funcionalidad, un autor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401050" y="1353312"/>
            <a:ext cx="190881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01050" y="1353312"/>
            <a:ext cx="50292" cy="5303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8547354" y="13898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hotfix/*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47354" y="16276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sobre lo publicado</a:t>
            </a:r>
            <a:endParaRPr lang="en-US" sz="1000" dirty="0"/>
          </a:p>
        </p:txBody>
      </p:sp>
      <p:pic>
        <p:nvPicPr>
          <p:cNvPr id="22" name="Image 0" descr="flujo-ram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660" y="2139696"/>
            <a:ext cx="8458200" cy="3937709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BiblioTech UTP  ·  Herramientas de Desarrollo  ·  Avance 1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1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GIT EN LA PRÁCTICA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Commits: una unidad de cambio, un mensaje claro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Convención adoptada: Conventional Commits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5303520" cy="510032"/>
          </a:xfrm>
          <a:prstGeom prst="rect">
            <a:avLst/>
          </a:prstGeom>
          <a:solidFill>
            <a:srgbClr val="0F24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837944"/>
            <a:ext cx="5010912" cy="27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8FE3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tipo(alcance): descripción en imperativo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5303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578608"/>
            <a:ext cx="50292" cy="530352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7860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257860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funcionalidad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5303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200400"/>
            <a:ext cx="50292" cy="5303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2004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320040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un error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822192"/>
            <a:ext cx="5303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822192"/>
            <a:ext cx="50292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2219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11680" y="382219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documentación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443984"/>
            <a:ext cx="5303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443984"/>
            <a:ext cx="50292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44398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11680" y="444398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Formato, sin cambiar lógica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065776"/>
            <a:ext cx="5303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065776"/>
            <a:ext cx="50292" cy="5303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06577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11680" y="506577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y dependencias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17920" y="13898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Mensajes del repositorio real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217920" y="1719072"/>
            <a:ext cx="5303520" cy="979932"/>
          </a:xfrm>
          <a:prstGeom prst="rect">
            <a:avLst/>
          </a:prstGeom>
          <a:solidFill>
            <a:srgbClr val="3A1A1E"/>
          </a:solidFill>
          <a:ln w="12700">
            <a:solidFill>
              <a:srgbClr val="6B2B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4224" y="1837944"/>
            <a:ext cx="5010912" cy="742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FF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   cambios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FF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   arregle lo del libro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FF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   avance del dia viernes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2955036"/>
            <a:ext cx="5303520" cy="1945132"/>
          </a:xfrm>
          <a:prstGeom prst="rect">
            <a:avLst/>
          </a:prstGeom>
          <a:solidFill>
            <a:srgbClr val="10301F"/>
          </a:solidFill>
          <a:ln w="12700">
            <a:solidFill>
              <a:srgbClr val="25523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64224" y="3073908"/>
            <a:ext cx="5010912" cy="170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9DE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BIEN  feat(libros): implementar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9DE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LibroController con CRUD y busqueda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9DE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BIEN  fix(prestamos): impedir prestamo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9DE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cuando el socio esta suspendido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9DE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BIEN  docs(readme): documentar endpoints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9DE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BIEN  style(ui): redisenar Navbar con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9DE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identidad de marca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17920" y="511962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commit = un cambio con sentido propio. Nunca se mezclan módulos.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BiblioTech UTP  ·  Herramientas de Desarrollo  ·  Avance 1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1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GIT EN LA PRÁCTICA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Fusión de ramas: siempre con --no-ff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Comandos utilizados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5303520" cy="2351532"/>
          </a:xfrm>
          <a:prstGeom prst="rect">
            <a:avLst/>
          </a:prstGeom>
          <a:solidFill>
            <a:srgbClr val="0F24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837944"/>
            <a:ext cx="5010912" cy="2113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F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Ir al destino y actualizarlo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develop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develop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F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Fusionar conservando el historial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--no-ff feature/catalogo-libros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FA9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Publicar y limpiar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develop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feature/catalogo-libros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13898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 real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1719072"/>
            <a:ext cx="5303520" cy="2351532"/>
          </a:xfrm>
          <a:prstGeom prst="rect">
            <a:avLst/>
          </a:prstGeom>
          <a:solidFill>
            <a:srgbClr val="0F24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837944"/>
            <a:ext cx="5010912" cy="2113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DE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merge --no-ff feature/catalogo-libros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made by the 'ort' strategy.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LibroController.php     | 107 +++++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Libro.php               |  38 +++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create_libros_table.php |  32 +++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LibroSeeder.php         |  28 +++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api.php                 |   1 +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Libros.jsx              | 211 +++++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files changed, 481 insertions(+)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344924"/>
            <a:ext cx="10881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344924"/>
            <a:ext cx="68580" cy="109728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4463796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--no-ff y no una fusión rápida?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4756404"/>
            <a:ext cx="10479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 a Git a crear un commit de fusión explícito. Gracias a eso el historial conserva visible qué commits pertenecían a cada módulo y en qué momento se integraron: una fusión rápida habría aplanado esa información y el grafo de ramas no existiría.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BiblioTech UTP  ·  Herramientas de Desarrollo  ·  Avance 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1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GIT EN LA PRÁCTICA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conflicto real que tuvimos que resolver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389888"/>
            <a:ext cx="10881360" cy="903732"/>
          </a:xfrm>
          <a:prstGeom prst="rect">
            <a:avLst/>
          </a:prstGeom>
          <a:solidFill>
            <a:srgbClr val="3A1A1E"/>
          </a:solidFill>
          <a:ln w="12700">
            <a:solidFill>
              <a:srgbClr val="6B2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508760"/>
            <a:ext cx="10588752" cy="665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9C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merge --no-ff feature/reportes-dashboard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9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 (content): Merge conflict in frontend/src/components/Navbar.jsx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3BE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Automatic merge failed; fix conflicts and then commit the result.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4399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 — rama develop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50820"/>
            <a:ext cx="5303520" cy="2834132"/>
          </a:xfrm>
          <a:prstGeom prst="rect">
            <a:avLst/>
          </a:prstGeom>
          <a:solidFill>
            <a:srgbClr val="0F24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869692"/>
            <a:ext cx="5010912" cy="2596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NavLink } from "react-router-dom";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Navbar() {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&lt;nav className="navbar"&gt;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&lt;span&gt;BiblioTech UTP&lt;/span&gt;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&lt;ul&gt;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&lt;li&gt;Inicio&lt;/li&gt;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&lt;li&gt;Libros&lt;/li&gt;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&lt;li&gt;Socios&lt;/li&gt;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C4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&lt;li&gt;Prestamos&lt;/li&gt;   &lt;-- modulo 3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&lt;/ul&gt;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&lt;/nav&gt;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17920" y="24399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feature/reportes-dashboard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750820"/>
            <a:ext cx="5303520" cy="2834132"/>
          </a:xfrm>
          <a:prstGeom prst="rect">
            <a:avLst/>
          </a:prstGeom>
          <a:solidFill>
            <a:srgbClr val="0F2438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2869692"/>
            <a:ext cx="5010912" cy="2596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&lt;nav className="navbar"&gt;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className="navbar-identidad"&gt;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&lt;span&gt;BiblioTech UTP&lt;/span&gt;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&lt;span&gt;Sistema de Gestion&lt;/span&gt;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&lt;ul&gt;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&lt;li&gt;Inicio&lt;/li&gt;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&lt;li&gt;Libros&lt;/li&gt;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&lt;li&gt;Socios&lt;/li&gt;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&lt;li&gt;Dashboard&lt;/li&gt;   &lt;-- modulo 4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&lt;/ul&gt;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&lt;/nav&gt;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FFB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feature/reportes-dashboard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57312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 las dos versiones contenía los dos enlaces: una añadió Préstamos, la otra rediseñó el componente y añadió Dashboard.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BiblioTech UTP  ·  Herramientas de Desarrollo  ·  Avance 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1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GIT EN LA PRÁCTICA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lo resolvimos: combinar, no elegir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389888"/>
            <a:ext cx="402336" cy="402336"/>
          </a:xfrm>
          <a:prstGeom prst="ellipse">
            <a:avLst/>
          </a:prstGeom>
          <a:solidFill>
            <a:srgbClr val="0B1B2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25296" y="1389888"/>
            <a:ext cx="4718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el archivo con git status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402336" cy="402336"/>
          </a:xfrm>
          <a:prstGeom prst="ellipse">
            <a:avLst/>
          </a:prstGeom>
          <a:solidFill>
            <a:srgbClr val="0B1B2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25296" y="2194560"/>
            <a:ext cx="4718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Navbar.jsx y leer las dos versiones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999232"/>
            <a:ext cx="402336" cy="402336"/>
          </a:xfrm>
          <a:prstGeom prst="ellipse">
            <a:avLst/>
          </a:prstGeom>
          <a:solidFill>
            <a:srgbClr val="0B1B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25296" y="2999232"/>
            <a:ext cx="4718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Conservar el rediseño y reinsertar Préstamos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03904"/>
            <a:ext cx="402336" cy="402336"/>
          </a:xfrm>
          <a:prstGeom prst="ellipse">
            <a:avLst/>
          </a:prstGeom>
          <a:solidFill>
            <a:srgbClr val="0B1B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25296" y="3803904"/>
            <a:ext cx="4718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los marcadores &lt;&lt;&lt;&lt;&lt;&lt;&lt;, ======= y &gt;&gt;&gt;&gt;&gt;&gt;&gt;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608576"/>
            <a:ext cx="402336" cy="402336"/>
          </a:xfrm>
          <a:prstGeom prst="ellipse">
            <a:avLst/>
          </a:prstGeom>
          <a:solidFill>
            <a:srgbClr val="0B1B2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08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25296" y="4608576"/>
            <a:ext cx="4718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en el navegador que las 5 rutas funcionan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413248"/>
            <a:ext cx="402336" cy="402336"/>
          </a:xfrm>
          <a:prstGeom prst="ellipse">
            <a:avLst/>
          </a:prstGeom>
          <a:solidFill>
            <a:srgbClr val="0B1B2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413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25296" y="5413248"/>
            <a:ext cx="4718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+ git commit para cerrar la fusión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17920" y="13898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Resultado: los dos aportes conviven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17920" y="1719072"/>
            <a:ext cx="5303520" cy="2897632"/>
          </a:xfrm>
          <a:prstGeom prst="rect">
            <a:avLst/>
          </a:prstGeom>
          <a:solidFill>
            <a:srgbClr val="10301F"/>
          </a:solidFill>
          <a:ln w="12700">
            <a:solidFill>
              <a:srgbClr val="2552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4224" y="1837944"/>
            <a:ext cx="5010912" cy="265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 className="navbar"&gt;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className="navbar-identidad"&gt;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&lt;span&gt;BiblioTech UTP&lt;/span&gt;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&lt;span&gt;Sistema de Gestion&lt;/span&gt;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&lt;ul&gt;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&lt;li&gt;Inicio&lt;/li&gt;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&lt;li&gt;Libros&lt;/li&gt;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&lt;li&gt;Socios&lt;/li&gt;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C4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&lt;li&gt;Prestamos&lt;/li&gt;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&lt;li&gt;Dashboard&lt;/li&gt;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&lt;/ul&gt;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&lt;/nav&gt;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4891024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4891024"/>
            <a:ext cx="68580" cy="10972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9" name="Text 27"/>
          <p:cNvSpPr/>
          <p:nvPr/>
        </p:nvSpPr>
        <p:spPr>
          <a:xfrm>
            <a:off x="6419088" y="5009896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 hubiéramos elegido una sola versión…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19088" y="5302504"/>
            <a:ext cx="4901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…habríamos borrado en silencio el trabajo de un compañero. Un conflicto no es un error: es Git avisando que hay que decidir.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BiblioTech UTP  ·  Herramientas de Desarrollo  ·  Avance 1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1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GIT EN LA PRÁCTICA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segundo conflicto, otra estrategia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389888"/>
            <a:ext cx="10881360" cy="903732"/>
          </a:xfrm>
          <a:prstGeom prst="rect">
            <a:avLst/>
          </a:prstGeom>
          <a:solidFill>
            <a:srgbClr val="3A1A1E"/>
          </a:solidFill>
          <a:ln w="12700">
            <a:solidFill>
              <a:srgbClr val="6B2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508760"/>
            <a:ext cx="10588752" cy="665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9C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merge --no-ff feature/gestion-socios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9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 (content): Merge conflict in frontend/src/pages/Socios.jsx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3BE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-c '&lt;&lt;&lt;&lt;&lt;&lt;&lt;' frontend/src/pages/Socios.jsx        -&gt;  5 bloques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04516"/>
            <a:ext cx="5303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604516"/>
            <a:ext cx="68580" cy="20574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732532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 — develop  ·  140 líneas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3061716"/>
            <a:ext cx="4901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Enviaba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6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tipo_socio: "Estudiante"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la API valida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6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minúsculas, así que el alta fallaba siempre.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Había perdido editar socio y suspender / reactivar.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604516"/>
            <a:ext cx="5303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2604516"/>
            <a:ext cx="68580" cy="20574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4" name="Text 12"/>
          <p:cNvSpPr/>
          <p:nvPr/>
        </p:nvSpPr>
        <p:spPr>
          <a:xfrm>
            <a:off x="6419088" y="2732532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feature/gestion-socios  ·  681 líneas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19088" y="3061716"/>
            <a:ext cx="4901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Campo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6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tipo: "estudiante"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correcto contra la API.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CRUD completo: listar, crear, editar y cambiar estado.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Rediseño con modal, filtros y tarjetas de indicadores.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936236"/>
            <a:ext cx="10881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936236"/>
            <a:ext cx="6858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5055108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regla no es «combinar siempre»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5347716"/>
            <a:ext cx="10479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Navbar.jsx las dos ramas aportaban cosas distintas y se combinaron. Aquí eran versiones alternativas del mismo componente: hubo que elegir, y el criterio fue verificable — comparar cada versión contra la validación real de la API, no decidir por antigüedad ni por preferencia.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BiblioTech UTP  ·  Herramientas de Desarrollo  ·  Avance 1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1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RELEASES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Releases, hotfix y un push rechazado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389888"/>
            <a:ext cx="25146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389888"/>
            <a:ext cx="68580" cy="157276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4813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v1.0.0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18470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Primer release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21214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módulos integrados y etiquetados en main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18688" y="2176272"/>
            <a:ext cx="155448" cy="0"/>
          </a:xfrm>
          <a:prstGeom prst="line">
            <a:avLst/>
          </a:prstGeom>
          <a:noFill/>
          <a:ln w="25400">
            <a:solidFill>
              <a:srgbClr val="8A97A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29000" y="1389888"/>
            <a:ext cx="25146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389888"/>
            <a:ext cx="68580" cy="15727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3630168" y="14813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30168" y="18470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Detectado en pruebas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30168" y="21214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devolvía HTML en vez de JSON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07608" y="2176272"/>
            <a:ext cx="155448" cy="0"/>
          </a:xfrm>
          <a:prstGeom prst="line">
            <a:avLst/>
          </a:prstGeom>
          <a:noFill/>
          <a:ln w="25400">
            <a:solidFill>
              <a:srgbClr val="8A97A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1389888"/>
            <a:ext cx="25146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389888"/>
            <a:ext cx="68580" cy="15727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419088" y="14813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hotfix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19088" y="18470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Rama desde main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19088" y="21214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aislada, sin arrastrar develop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96528" y="2176272"/>
            <a:ext cx="155448" cy="0"/>
          </a:xfrm>
          <a:prstGeom prst="line">
            <a:avLst/>
          </a:prstGeom>
          <a:noFill/>
          <a:ln w="25400">
            <a:solidFill>
              <a:srgbClr val="8A97A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06840" y="1389888"/>
            <a:ext cx="25146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06840" y="1389888"/>
            <a:ext cx="68580" cy="1572768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6" name="Text 24"/>
          <p:cNvSpPr/>
          <p:nvPr/>
        </p:nvSpPr>
        <p:spPr>
          <a:xfrm>
            <a:off x="9208008" y="14813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v1.0.1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08008" y="18470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Segundo release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08008" y="21214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publicada y propagada a develop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33101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Cuando el remoto avanzó sin nosotros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" y="3639312"/>
            <a:ext cx="5303520" cy="884682"/>
          </a:xfrm>
          <a:prstGeom prst="rect">
            <a:avLst/>
          </a:prstGeom>
          <a:solidFill>
            <a:srgbClr val="3A1A1E"/>
          </a:solidFill>
          <a:ln w="12700">
            <a:solidFill>
              <a:srgbClr val="6B2B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3758184"/>
            <a:ext cx="5010912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origin main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FF9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! [rejected]  main -&gt; main (fetch first)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3BE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failed to push some refs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798314"/>
            <a:ext cx="5303520" cy="884682"/>
          </a:xfrm>
          <a:prstGeom prst="rect">
            <a:avLst/>
          </a:prstGeom>
          <a:solidFill>
            <a:srgbClr val="10301F"/>
          </a:solidFill>
          <a:ln w="12700">
            <a:solidFill>
              <a:srgbClr val="25523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4917186"/>
            <a:ext cx="5010912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DE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fetch origin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DE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--oneline HEAD..origin/main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9DE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merge --no-ff origin/main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33101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tentación era --force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217920" y="3639312"/>
            <a:ext cx="53035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B2B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3639312"/>
            <a:ext cx="68580" cy="19933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6419088" y="3785616"/>
            <a:ext cx="490118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integrante había publicado directamente en main un rediseño completo de la interfaz: 16 archivos y 1 313 líneas nuevas.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Forzarlo lo habría borrado todo. Hacer fetch, revisar qué llegó y fusionar tomó dos minutos y no costó una sola línea de código.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push rechazado no estorba: protege.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BiblioTech UTP  ·  Herramientas de Desarrollo  ·  Avance 1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1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proyecto en números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443630" cy="1965960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00200"/>
            <a:ext cx="3443630" cy="685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47672"/>
            <a:ext cx="34436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40080" y="2843784"/>
            <a:ext cx="34436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58030" y="1600200"/>
            <a:ext cx="3443630" cy="1965960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11" name="Shape 9"/>
          <p:cNvSpPr/>
          <p:nvPr/>
        </p:nvSpPr>
        <p:spPr>
          <a:xfrm>
            <a:off x="4358030" y="1600200"/>
            <a:ext cx="3443630" cy="685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358030" y="1947672"/>
            <a:ext cx="34436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358030" y="2843784"/>
            <a:ext cx="34436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75981" y="1600200"/>
            <a:ext cx="3443630" cy="1965960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15" name="Shape 13"/>
          <p:cNvSpPr/>
          <p:nvPr/>
        </p:nvSpPr>
        <p:spPr>
          <a:xfrm>
            <a:off x="8075981" y="1600200"/>
            <a:ext cx="3443630" cy="6858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6" name="Text 14"/>
          <p:cNvSpPr/>
          <p:nvPr/>
        </p:nvSpPr>
        <p:spPr>
          <a:xfrm>
            <a:off x="8075981" y="1947672"/>
            <a:ext cx="34436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8075981" y="2843784"/>
            <a:ext cx="34436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3443630" cy="1965960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840480"/>
            <a:ext cx="3443630" cy="685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87952"/>
            <a:ext cx="34436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640080" y="5084064"/>
            <a:ext cx="34436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conflictos resueltos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58030" y="3840480"/>
            <a:ext cx="3443630" cy="1965960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23" name="Shape 21"/>
          <p:cNvSpPr/>
          <p:nvPr/>
        </p:nvSpPr>
        <p:spPr>
          <a:xfrm>
            <a:off x="4358030" y="3840480"/>
            <a:ext cx="3443630" cy="68580"/>
          </a:xfrm>
          <a:prstGeom prst="rect">
            <a:avLst/>
          </a:prstGeom>
          <a:solidFill>
            <a:srgbClr val="C4A6FF"/>
          </a:solidFill>
          <a:ln/>
        </p:spPr>
      </p:sp>
      <p:sp>
        <p:nvSpPr>
          <p:cNvPr id="24" name="Text 22"/>
          <p:cNvSpPr/>
          <p:nvPr/>
        </p:nvSpPr>
        <p:spPr>
          <a:xfrm>
            <a:off x="4358030" y="4187952"/>
            <a:ext cx="34436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5200" dirty="0"/>
          </a:p>
        </p:txBody>
      </p:sp>
      <p:sp>
        <p:nvSpPr>
          <p:cNvPr id="25" name="Text 23"/>
          <p:cNvSpPr/>
          <p:nvPr/>
        </p:nvSpPr>
        <p:spPr>
          <a:xfrm>
            <a:off x="4358030" y="5084064"/>
            <a:ext cx="34436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4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etiquetados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75981" y="3840480"/>
            <a:ext cx="3443630" cy="1965960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27" name="Shape 25"/>
          <p:cNvSpPr/>
          <p:nvPr/>
        </p:nvSpPr>
        <p:spPr>
          <a:xfrm>
            <a:off x="8075981" y="3840480"/>
            <a:ext cx="3443630" cy="68580"/>
          </a:xfrm>
          <a:prstGeom prst="rect">
            <a:avLst/>
          </a:prstGeom>
          <a:solidFill>
            <a:srgbClr val="5EE0EF"/>
          </a:solidFill>
          <a:ln/>
        </p:spPr>
      </p:sp>
      <p:sp>
        <p:nvSpPr>
          <p:cNvPr id="28" name="Text 26"/>
          <p:cNvSpPr/>
          <p:nvPr/>
        </p:nvSpPr>
        <p:spPr>
          <a:xfrm>
            <a:off x="8075981" y="4187952"/>
            <a:ext cx="34436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8075981" y="5084064"/>
            <a:ext cx="34436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con commits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BiblioTech UTP  ·  Herramientas de Desarrollo  ·  Avance 1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1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Lecciones aprendidas y mejoras futuras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aprendimos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0" y="138988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haríamos distinto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719072"/>
            <a:ext cx="5303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19072"/>
            <a:ext cx="68580" cy="877824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1837944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Prevenir sale más barato que resolver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" y="2130552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los archivos compartidos divididos en zonas, solo uno de los cuatro módulos generó conflicto.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889504"/>
            <a:ext cx="5303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889504"/>
            <a:ext cx="68580" cy="87782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008376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conflicto es información, no un error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" y="3300984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avisa cuando dos decisiones chocan; lo correcto es combinar ambas.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059936"/>
            <a:ext cx="5303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059936"/>
            <a:ext cx="68580" cy="87782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178808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historial vale lo que valen los mensajes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1248" y="4471416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 permitió entender el proyecto sin abrir el código.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5230368"/>
            <a:ext cx="5303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230368"/>
            <a:ext cx="68580" cy="8778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349240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.gitignore va antes del primer commit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41248" y="5641848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Corregirlo después obliga a reescribir el historial completo.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1719072"/>
            <a:ext cx="5303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719072"/>
            <a:ext cx="68580" cy="87782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1837944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Proteger main y develop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19088" y="2130552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 rules: nadie publica directo en main.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2889504"/>
            <a:ext cx="5303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2889504"/>
            <a:ext cx="68580" cy="87782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6419088" y="3008376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Integrar con Pull Requests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19088" y="3300984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entre compañeros antes de fusionar.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4059936"/>
            <a:ext cx="5303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4059936"/>
            <a:ext cx="68580" cy="877824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34" name="Text 32"/>
          <p:cNvSpPr/>
          <p:nvPr/>
        </p:nvSpPr>
        <p:spPr>
          <a:xfrm>
            <a:off x="6419088" y="4178808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Integración continua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19088" y="4471416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ejecutando pruebas en cada push.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7920" y="5230368"/>
            <a:ext cx="5303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5230368"/>
            <a:ext cx="68580" cy="8778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6419088" y="5349240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Autenticación real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419088" y="5641848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el login simulado por tokens de Sanctum.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BiblioTech UTP  ·  Herramientas de Desarrollo  ·  Avance 1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868680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Gracias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868680" y="2103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historial completo, las ramas, los conflictos y los releases son verificables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6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repositorio público del proyecto.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3108960"/>
            <a:ext cx="10424160" cy="841248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108960"/>
            <a:ext cx="64008" cy="841248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10896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github.com/nocompe/Herramienta-de-desarrollo-biblioteca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4343400"/>
            <a:ext cx="2400300" cy="1234440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4343400"/>
            <a:ext cx="24003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526280"/>
            <a:ext cx="24003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68680" y="5093208"/>
            <a:ext cx="2400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43300" y="4343400"/>
            <a:ext cx="2400300" cy="1234440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13" name="Shape 11"/>
          <p:cNvSpPr/>
          <p:nvPr/>
        </p:nvSpPr>
        <p:spPr>
          <a:xfrm>
            <a:off x="3543300" y="4343400"/>
            <a:ext cx="24003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3543300" y="4526280"/>
            <a:ext cx="24003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543300" y="5093208"/>
            <a:ext cx="2400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4343400"/>
            <a:ext cx="2400300" cy="1234440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4343400"/>
            <a:ext cx="2400300" cy="64008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4526280"/>
            <a:ext cx="24003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17920" y="5093208"/>
            <a:ext cx="2400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92540" y="4343400"/>
            <a:ext cx="2400300" cy="1234440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21" name="Shape 19"/>
          <p:cNvSpPr/>
          <p:nvPr/>
        </p:nvSpPr>
        <p:spPr>
          <a:xfrm>
            <a:off x="8892540" y="4343400"/>
            <a:ext cx="240030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8892540" y="4526280"/>
            <a:ext cx="24003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892540" y="5093208"/>
            <a:ext cx="2400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68680" y="58978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Avance 1 · Herramientas de Desarrollo · Universidad Tecnológica del Perú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Final Avance 1 - BiblioTech UTP</dc:title>
  <dc:subject>Sistemas de Control de Versiones para el Desarrollo de una Solución de Software</dc:subject>
  <dc:creator>Equipo BiblioTech UTP</dc:creator>
  <cp:lastModifiedBy>Equipo BiblioTech UTP</cp:lastModifiedBy>
  <cp:revision>1</cp:revision>
  <dcterms:created xsi:type="dcterms:W3CDTF">2026-09-15T20:26:01Z</dcterms:created>
  <dcterms:modified xsi:type="dcterms:W3CDTF">2026-09-15T20:26:01Z</dcterms:modified>
</cp:coreProperties>
</file>